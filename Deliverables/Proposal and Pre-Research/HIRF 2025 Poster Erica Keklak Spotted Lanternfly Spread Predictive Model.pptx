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PT Serif"/>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TSerif-bold.fntdata"/><Relationship Id="rId12" Type="http://schemas.openxmlformats.org/officeDocument/2006/relationships/font" Target="fonts/PTSerif-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TSerif-boldItalic.fntdata"/><Relationship Id="rId14" Type="http://schemas.openxmlformats.org/officeDocument/2006/relationships/font" Target="fonts/PTSerif-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T Serif"/>
                <a:ea typeface="PT Serif"/>
                <a:cs typeface="PT Serif"/>
                <a:sym typeface="PT Serif"/>
              </a:rPr>
              <a:t>The HIRF poster, which is the main slide that will be shown. The rest are figures that are individually shown if the audience wants to see them in greater detail.</a:t>
            </a:r>
            <a:endParaRPr sz="1200">
              <a:latin typeface="PT Serif"/>
              <a:ea typeface="PT Serif"/>
              <a:cs typeface="PT Serif"/>
              <a:sym typeface="PT Serif"/>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524c19ff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524c19ff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T Serif"/>
                <a:ea typeface="PT Serif"/>
                <a:cs typeface="PT Serif"/>
                <a:sym typeface="PT Serif"/>
              </a:rPr>
              <a:t>A figure that is of increased size.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24c19ffc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24c19ff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T Serif"/>
                <a:ea typeface="PT Serif"/>
                <a:cs typeface="PT Serif"/>
                <a:sym typeface="PT Serif"/>
              </a:rPr>
              <a:t>A figure that is of increased size.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24c19ff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24c19ff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T Serif"/>
                <a:ea typeface="PT Serif"/>
                <a:cs typeface="PT Serif"/>
                <a:sym typeface="PT Serif"/>
              </a:rPr>
              <a:t>A figure that is of increased size.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24c19ffc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24c19ffc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T Serif"/>
                <a:ea typeface="PT Serif"/>
                <a:cs typeface="PT Serif"/>
                <a:sym typeface="PT Serif"/>
              </a:rPr>
              <a:t>A figure that is of increased size.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d9e3f463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d9e3f46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T Serif"/>
                <a:ea typeface="PT Serif"/>
                <a:cs typeface="PT Serif"/>
                <a:sym typeface="PT Serif"/>
              </a:rPr>
              <a:t>A figure that is of increased size.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jpg"/><Relationship Id="rId6" Type="http://schemas.openxmlformats.org/officeDocument/2006/relationships/image" Target="../media/image5.png"/><Relationship Id="rId7"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3" name="Shape 53"/>
        <p:cNvGrpSpPr/>
        <p:nvPr/>
      </p:nvGrpSpPr>
      <p:grpSpPr>
        <a:xfrm>
          <a:off x="0" y="0"/>
          <a:ext cx="0" cy="0"/>
          <a:chOff x="0" y="0"/>
          <a:chExt cx="0" cy="0"/>
        </a:xfrm>
      </p:grpSpPr>
      <p:sp>
        <p:nvSpPr>
          <p:cNvPr id="54" name="Google Shape;54;p13"/>
          <p:cNvSpPr/>
          <p:nvPr/>
        </p:nvSpPr>
        <p:spPr>
          <a:xfrm>
            <a:off x="91500" y="91500"/>
            <a:ext cx="8961000" cy="941700"/>
          </a:xfrm>
          <a:prstGeom prst="rect">
            <a:avLst/>
          </a:prstGeom>
          <a:solidFill>
            <a:srgbClr val="F5FFF1"/>
          </a:solidFill>
          <a:ln cap="flat" cmpd="sng" w="38100">
            <a:solidFill>
              <a:srgbClr val="274E13"/>
            </a:solidFill>
            <a:prstDash val="solid"/>
            <a:round/>
            <a:headEnd len="sm" w="sm" type="none"/>
            <a:tailEnd len="sm" w="sm" type="none"/>
          </a:ln>
        </p:spPr>
        <p:txBody>
          <a:bodyPr anchorCtr="0" anchor="ctr" bIns="45700" lIns="45700" spcFirstLastPara="1" rIns="45700" wrap="square" tIns="45700">
            <a:noAutofit/>
          </a:bodyPr>
          <a:lstStyle/>
          <a:p>
            <a:pPr indent="0" lvl="0" marL="0" rtl="0" algn="ctr">
              <a:spcBef>
                <a:spcPts val="0"/>
              </a:spcBef>
              <a:spcAft>
                <a:spcPts val="0"/>
              </a:spcAft>
              <a:buNone/>
            </a:pPr>
            <a:r>
              <a:rPr b="1" lang="en" sz="2000">
                <a:solidFill>
                  <a:srgbClr val="274E13"/>
                </a:solidFill>
                <a:latin typeface="PT Serif"/>
                <a:ea typeface="PT Serif"/>
                <a:cs typeface="PT Serif"/>
                <a:sym typeface="PT Serif"/>
              </a:rPr>
              <a:t>Predictive model of the spread of the spotted lanternfly in the continental United States using machine learning</a:t>
            </a:r>
            <a:endParaRPr b="1" sz="2000">
              <a:solidFill>
                <a:srgbClr val="274E13"/>
              </a:solidFill>
              <a:latin typeface="PT Serif"/>
              <a:ea typeface="PT Serif"/>
              <a:cs typeface="PT Serif"/>
              <a:sym typeface="PT Serif"/>
            </a:endParaRPr>
          </a:p>
          <a:p>
            <a:pPr indent="0" lvl="0" marL="0" rtl="0" algn="ctr">
              <a:spcBef>
                <a:spcPts val="0"/>
              </a:spcBef>
              <a:spcAft>
                <a:spcPts val="0"/>
              </a:spcAft>
              <a:buNone/>
            </a:pPr>
            <a:r>
              <a:rPr lang="en" sz="800">
                <a:solidFill>
                  <a:srgbClr val="274E13"/>
                </a:solidFill>
                <a:latin typeface="PT Serif"/>
                <a:ea typeface="PT Serif"/>
                <a:cs typeface="PT Serif"/>
                <a:sym typeface="PT Serif"/>
              </a:rPr>
              <a:t>Erica Keklak (ejk26@njit.edu)   </a:t>
            </a:r>
            <a:r>
              <a:rPr lang="en" sz="800">
                <a:solidFill>
                  <a:srgbClr val="274E13"/>
                </a:solidFill>
                <a:latin typeface="PT Serif"/>
                <a:ea typeface="PT Serif"/>
                <a:cs typeface="PT Serif"/>
                <a:sym typeface="PT Serif"/>
              </a:rPr>
              <a:t>|   Advisor: Dr. Selina Cai</a:t>
            </a:r>
            <a:endParaRPr sz="800">
              <a:solidFill>
                <a:srgbClr val="274E13"/>
              </a:solidFill>
              <a:latin typeface="PT Serif"/>
              <a:ea typeface="PT Serif"/>
              <a:cs typeface="PT Serif"/>
              <a:sym typeface="PT Serif"/>
            </a:endParaRPr>
          </a:p>
          <a:p>
            <a:pPr indent="0" lvl="0" marL="0" rtl="0" algn="ctr">
              <a:spcBef>
                <a:spcPts val="0"/>
              </a:spcBef>
              <a:spcAft>
                <a:spcPts val="0"/>
              </a:spcAft>
              <a:buNone/>
            </a:pPr>
            <a:r>
              <a:rPr lang="en" sz="800">
                <a:solidFill>
                  <a:srgbClr val="274E13"/>
                </a:solidFill>
                <a:latin typeface="PT Serif"/>
                <a:ea typeface="PT Serif"/>
                <a:cs typeface="PT Serif"/>
                <a:sym typeface="PT Serif"/>
              </a:rPr>
              <a:t>Department of Mechanical and Industrial Engineering, New Jersey Institute of Technology</a:t>
            </a:r>
            <a:endParaRPr sz="800">
              <a:solidFill>
                <a:srgbClr val="274E13"/>
              </a:solidFill>
              <a:latin typeface="PT Serif"/>
              <a:ea typeface="PT Serif"/>
              <a:cs typeface="PT Serif"/>
              <a:sym typeface="PT Serif"/>
            </a:endParaRPr>
          </a:p>
        </p:txBody>
      </p:sp>
      <p:sp>
        <p:nvSpPr>
          <p:cNvPr id="55" name="Google Shape;55;p13"/>
          <p:cNvSpPr/>
          <p:nvPr/>
        </p:nvSpPr>
        <p:spPr>
          <a:xfrm>
            <a:off x="91500" y="1124700"/>
            <a:ext cx="2926200" cy="24666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Background</a:t>
            </a:r>
            <a:endParaRPr b="1" sz="12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The spotted lanternfly (</a:t>
            </a:r>
            <a:r>
              <a:rPr i="1" lang="en" sz="800">
                <a:solidFill>
                  <a:srgbClr val="274E13"/>
                </a:solidFill>
                <a:latin typeface="PT Serif"/>
                <a:ea typeface="PT Serif"/>
                <a:cs typeface="PT Serif"/>
                <a:sym typeface="PT Serif"/>
              </a:rPr>
              <a:t>Lycorma delicatula</a:t>
            </a:r>
            <a:r>
              <a:rPr lang="en" sz="800">
                <a:solidFill>
                  <a:srgbClr val="274E13"/>
                </a:solidFill>
                <a:latin typeface="PT Serif"/>
                <a:ea typeface="PT Serif"/>
                <a:cs typeface="PT Serif"/>
                <a:sym typeface="PT Serif"/>
              </a:rPr>
              <a:t> or the SLF) is an invasive plant parasite in the continental United States introduced in 2014</a:t>
            </a:r>
            <a:endParaRPr sz="8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SLFs deplete nutrition from various farmed fruit plants and timber trees, lower American companies’ profits by millions of dollars each year, reduce available resources, and cause environmental distruption for North American ecosystems</a:t>
            </a:r>
            <a:endParaRPr sz="8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Native predators and some effective insecticides exist, but natural enemies, pesticides, and current levels of human intervention are not sufficient to prevent their spread</a:t>
            </a:r>
            <a:endParaRPr sz="8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Historical mapping of spread indicates that SLFs tend to spread faster when egg masses are laid on automobiles, trains, or large parking areas and when nymphs and adults use vehicles to “hitchhike”</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Previous research focuses on specific aspects of SLF biology and spread but does not synthesize information to the point of being able to assign levels of risk to areas that may see significant population increases</a:t>
            </a:r>
            <a:endParaRPr sz="800">
              <a:solidFill>
                <a:srgbClr val="274E13"/>
              </a:solidFill>
              <a:latin typeface="PT Serif"/>
              <a:ea typeface="PT Serif"/>
              <a:cs typeface="PT Serif"/>
              <a:sym typeface="PT Serif"/>
            </a:endParaRPr>
          </a:p>
        </p:txBody>
      </p:sp>
      <p:sp>
        <p:nvSpPr>
          <p:cNvPr id="56" name="Google Shape;56;p13"/>
          <p:cNvSpPr/>
          <p:nvPr/>
        </p:nvSpPr>
        <p:spPr>
          <a:xfrm>
            <a:off x="3108900" y="1124700"/>
            <a:ext cx="2926200" cy="16581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Methods</a:t>
            </a:r>
            <a:endParaRPr b="1" sz="12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Create historical distribution maps to understand how SLFs have spread in the continental U.S. so far</a:t>
            </a:r>
            <a:endParaRPr sz="8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Train species distribution/niche models (SDMs) to predict future SLF locations using public observation data and biological characteristics of SLFs</a:t>
            </a:r>
            <a:endParaRPr sz="8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Models will take into account climate and densities of predators, parasites, locations where effective pesticides may be used, and locations of nearby highways and train lines</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Make additional “prediction of risk” SDMs specific to human-mediated dispersal areas, highlighting land transportation corridors, parking, and train stations</a:t>
            </a:r>
            <a:endParaRPr sz="800">
              <a:solidFill>
                <a:srgbClr val="274E13"/>
              </a:solidFill>
              <a:latin typeface="PT Serif"/>
              <a:ea typeface="PT Serif"/>
              <a:cs typeface="PT Serif"/>
              <a:sym typeface="PT Serif"/>
            </a:endParaRPr>
          </a:p>
        </p:txBody>
      </p:sp>
      <p:sp>
        <p:nvSpPr>
          <p:cNvPr id="57" name="Google Shape;57;p13"/>
          <p:cNvSpPr/>
          <p:nvPr/>
        </p:nvSpPr>
        <p:spPr>
          <a:xfrm>
            <a:off x="6126300" y="1124700"/>
            <a:ext cx="2926200" cy="19737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Expected Outcomes</a:t>
            </a:r>
            <a:endParaRPr b="1" sz="12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a:t>
            </a:r>
            <a:r>
              <a:rPr b="1" lang="en" sz="800">
                <a:solidFill>
                  <a:srgbClr val="274E13"/>
                </a:solidFill>
                <a:latin typeface="PT Serif"/>
                <a:ea typeface="PT Serif"/>
                <a:cs typeface="PT Serif"/>
                <a:sym typeface="PT Serif"/>
              </a:rPr>
              <a:t>Modified historical maps</a:t>
            </a:r>
            <a:r>
              <a:rPr lang="en" sz="800">
                <a:solidFill>
                  <a:srgbClr val="274E13"/>
                </a:solidFill>
                <a:latin typeface="PT Serif"/>
                <a:ea typeface="PT Serif"/>
                <a:cs typeface="PT Serif"/>
                <a:sym typeface="PT Serif"/>
              </a:rPr>
              <a:t> of SLF population density in the U.S. from 2014 to 2024, the full historical timespan</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a:t>
            </a:r>
            <a:r>
              <a:rPr b="1" lang="en" sz="800">
                <a:solidFill>
                  <a:srgbClr val="274E13"/>
                </a:solidFill>
                <a:latin typeface="PT Serif"/>
                <a:ea typeface="PT Serif"/>
                <a:cs typeface="PT Serif"/>
                <a:sym typeface="PT Serif"/>
              </a:rPr>
              <a:t>Maps of historical spread</a:t>
            </a:r>
            <a:r>
              <a:rPr lang="en" sz="800">
                <a:solidFill>
                  <a:srgbClr val="274E13"/>
                </a:solidFill>
                <a:latin typeface="PT Serif"/>
                <a:ea typeface="PT Serif"/>
                <a:cs typeface="PT Serif"/>
                <a:sym typeface="PT Serif"/>
              </a:rPr>
              <a:t> of SLFs (2014-2024) along interstate and major intrastate highways, locomotive lines, highway rest stops, and train stations</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a:t>
            </a:r>
            <a:r>
              <a:rPr b="1" lang="en" sz="800">
                <a:solidFill>
                  <a:srgbClr val="274E13"/>
                </a:solidFill>
                <a:latin typeface="PT Serif"/>
                <a:ea typeface="PT Serif"/>
                <a:cs typeface="PT Serif"/>
                <a:sym typeface="PT Serif"/>
              </a:rPr>
              <a:t>“Prediction of risk” SDM</a:t>
            </a:r>
            <a:r>
              <a:rPr lang="en" sz="800">
                <a:solidFill>
                  <a:srgbClr val="274E13"/>
                </a:solidFill>
                <a:latin typeface="PT Serif"/>
                <a:ea typeface="PT Serif"/>
                <a:cs typeface="PT Serif"/>
                <a:sym typeface="PT Serif"/>
              </a:rPr>
              <a:t> from cleaned SLF observation data with other parameters involved, risk levels directly coming from expected increases in SLF density</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State governments and farmers may see the expected risk and SLF density level of their area and take action accordingly</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Future research may test different approaches to modeling future spread using other frameworks (e.g. multispecies diffisuve models) or testing a new framework for predictive accuracy</a:t>
            </a:r>
            <a:endParaRPr sz="800">
              <a:solidFill>
                <a:srgbClr val="274E13"/>
              </a:solidFill>
              <a:latin typeface="PT Serif"/>
              <a:ea typeface="PT Serif"/>
              <a:cs typeface="PT Serif"/>
              <a:sym typeface="PT Serif"/>
            </a:endParaRPr>
          </a:p>
        </p:txBody>
      </p:sp>
      <p:sp>
        <p:nvSpPr>
          <p:cNvPr id="58" name="Google Shape;58;p13"/>
          <p:cNvSpPr/>
          <p:nvPr/>
        </p:nvSpPr>
        <p:spPr>
          <a:xfrm>
            <a:off x="6126300" y="4189500"/>
            <a:ext cx="1983900" cy="8625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Acknowledgements</a:t>
            </a:r>
            <a:endParaRPr b="1" sz="1200">
              <a:solidFill>
                <a:srgbClr val="274E13"/>
              </a:solidFill>
              <a:latin typeface="PT Serif"/>
              <a:ea typeface="PT Serif"/>
              <a:cs typeface="PT Serif"/>
              <a:sym typeface="PT Serif"/>
            </a:endParaRPr>
          </a:p>
          <a:p>
            <a:pPr indent="0" lvl="0" marL="0" rtl="0" algn="l">
              <a:spcBef>
                <a:spcPts val="0"/>
              </a:spcBef>
              <a:spcAft>
                <a:spcPts val="0"/>
              </a:spcAft>
              <a:buNone/>
            </a:pPr>
            <a:r>
              <a:rPr lang="en" sz="500">
                <a:solidFill>
                  <a:srgbClr val="274E13"/>
                </a:solidFill>
                <a:latin typeface="PT Serif"/>
                <a:ea typeface="PT Serif"/>
                <a:cs typeface="PT Serif"/>
                <a:sym typeface="PT Serif"/>
              </a:rPr>
              <a:t>We are grateful for the entities that provided publicly-available data for the training of the models, including the United States Department of Agriculture; iNaturalist; and State Departments of Agriculture in New Jersey, New York, </a:t>
            </a:r>
            <a:r>
              <a:rPr lang="en" sz="500">
                <a:solidFill>
                  <a:srgbClr val="274E13"/>
                </a:solidFill>
                <a:latin typeface="PT Serif"/>
                <a:ea typeface="PT Serif"/>
                <a:cs typeface="PT Serif"/>
                <a:sym typeface="PT Serif"/>
              </a:rPr>
              <a:t>Pennsylvania. We would like to thank Dr. Emily Tancredi-Brice Agbenyega for her generous feedback on this proposal and for any and all programs that accept and/or fund this research. Advising from </a:t>
            </a:r>
            <a:r>
              <a:rPr lang="en" sz="500">
                <a:solidFill>
                  <a:srgbClr val="274E13"/>
                </a:solidFill>
                <a:latin typeface="PT Serif"/>
                <a:ea typeface="PT Serif"/>
                <a:cs typeface="PT Serif"/>
                <a:sym typeface="PT Serif"/>
              </a:rPr>
              <a:t>Dr. Selina Cai</a:t>
            </a:r>
            <a:r>
              <a:rPr lang="en" sz="500">
                <a:solidFill>
                  <a:srgbClr val="274E13"/>
                </a:solidFill>
                <a:latin typeface="PT Serif"/>
                <a:ea typeface="PT Serif"/>
                <a:cs typeface="PT Serif"/>
                <a:sym typeface="PT Serif"/>
              </a:rPr>
              <a:t> is essential to the current and future success of this project.</a:t>
            </a:r>
            <a:endParaRPr sz="500">
              <a:solidFill>
                <a:srgbClr val="274E13"/>
              </a:solidFill>
              <a:latin typeface="PT Serif"/>
              <a:ea typeface="PT Serif"/>
              <a:cs typeface="PT Serif"/>
              <a:sym typeface="PT Serif"/>
            </a:endParaRPr>
          </a:p>
        </p:txBody>
      </p:sp>
      <p:sp>
        <p:nvSpPr>
          <p:cNvPr id="59" name="Google Shape;59;p13"/>
          <p:cNvSpPr/>
          <p:nvPr/>
        </p:nvSpPr>
        <p:spPr>
          <a:xfrm>
            <a:off x="8201775" y="4189500"/>
            <a:ext cx="850800" cy="8625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Resources</a:t>
            </a:r>
            <a:endParaRPr b="1" sz="1200">
              <a:solidFill>
                <a:srgbClr val="274E13"/>
              </a:solidFill>
              <a:latin typeface="PT Serif"/>
              <a:ea typeface="PT Serif"/>
              <a:cs typeface="PT Serif"/>
              <a:sym typeface="PT Serif"/>
            </a:endParaRPr>
          </a:p>
          <a:p>
            <a:pPr indent="0" lvl="0" marL="0" rtl="0" algn="l">
              <a:spcBef>
                <a:spcPts val="0"/>
              </a:spcBef>
              <a:spcAft>
                <a:spcPts val="0"/>
              </a:spcAft>
              <a:buNone/>
            </a:pPr>
            <a:r>
              <a:t/>
            </a:r>
            <a:endParaRPr sz="600">
              <a:solidFill>
                <a:srgbClr val="274E13"/>
              </a:solidFill>
              <a:latin typeface="PT Serif"/>
              <a:ea typeface="PT Serif"/>
              <a:cs typeface="PT Serif"/>
              <a:sym typeface="PT Serif"/>
            </a:endParaRPr>
          </a:p>
        </p:txBody>
      </p:sp>
      <p:pic>
        <p:nvPicPr>
          <p:cNvPr id="60" name="Google Shape;60;p13"/>
          <p:cNvPicPr preferRelativeResize="0"/>
          <p:nvPr/>
        </p:nvPicPr>
        <p:blipFill>
          <a:blip r:embed="rId3">
            <a:alphaModFix/>
          </a:blip>
          <a:stretch>
            <a:fillRect/>
          </a:stretch>
        </p:blipFill>
        <p:spPr>
          <a:xfrm>
            <a:off x="334550" y="502250"/>
            <a:ext cx="950723" cy="399301"/>
          </a:xfrm>
          <a:prstGeom prst="rect">
            <a:avLst/>
          </a:prstGeom>
          <a:noFill/>
          <a:ln>
            <a:noFill/>
          </a:ln>
        </p:spPr>
      </p:pic>
      <p:sp>
        <p:nvSpPr>
          <p:cNvPr id="61" name="Google Shape;61;p13"/>
          <p:cNvSpPr/>
          <p:nvPr/>
        </p:nvSpPr>
        <p:spPr>
          <a:xfrm>
            <a:off x="91500" y="3689700"/>
            <a:ext cx="2926200" cy="1362000"/>
          </a:xfrm>
          <a:prstGeom prst="rect">
            <a:avLst/>
          </a:prstGeom>
          <a:solidFill>
            <a:srgbClr val="F5FFF1"/>
          </a:solidFill>
          <a:ln cap="flat" cmpd="sng" w="38100">
            <a:solidFill>
              <a:srgbClr val="274E13"/>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b="1" lang="en" sz="1200">
                <a:solidFill>
                  <a:srgbClr val="274E13"/>
                </a:solidFill>
                <a:latin typeface="PT Serif"/>
                <a:ea typeface="PT Serif"/>
                <a:cs typeface="PT Serif"/>
                <a:sym typeface="PT Serif"/>
              </a:rPr>
              <a:t>Significance</a:t>
            </a:r>
            <a:endParaRPr b="1" sz="1200">
              <a:solidFill>
                <a:srgbClr val="274E13"/>
              </a:solidFill>
              <a:latin typeface="PT Serif"/>
              <a:ea typeface="PT Serif"/>
              <a:cs typeface="PT Serif"/>
              <a:sym typeface="PT Serif"/>
            </a:endParaRPr>
          </a:p>
          <a:p>
            <a:pPr indent="0" lvl="0" marL="0" rtl="0" algn="l">
              <a:spcBef>
                <a:spcPts val="0"/>
              </a:spcBef>
              <a:spcAft>
                <a:spcPts val="0"/>
              </a:spcAft>
              <a:buNone/>
            </a:pPr>
            <a:r>
              <a:rPr lang="en" sz="800">
                <a:solidFill>
                  <a:srgbClr val="274E13"/>
                </a:solidFill>
                <a:latin typeface="PT Serif"/>
                <a:ea typeface="PT Serif"/>
                <a:cs typeface="PT Serif"/>
                <a:sym typeface="PT Serif"/>
              </a:rPr>
              <a:t>¤ SLFs will continue to cause damage to native biodiversity and fruit farms unless the government implements an effective solution to regulate their population</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Previous literature mapped some historical locations of spotted lanternflies and host plants but did not account for limitations of observation/location bias to determine true population densities</a:t>
            </a:r>
            <a:endParaRPr sz="800">
              <a:solidFill>
                <a:srgbClr val="274E13"/>
              </a:solidFill>
              <a:latin typeface="PT Serif"/>
              <a:ea typeface="PT Serif"/>
              <a:cs typeface="PT Serif"/>
              <a:sym typeface="PT Serif"/>
            </a:endParaRPr>
          </a:p>
          <a:p>
            <a:pPr indent="0" lvl="0" marL="0" rtl="0" algn="l">
              <a:spcBef>
                <a:spcPts val="0"/>
              </a:spcBef>
              <a:spcAft>
                <a:spcPts val="0"/>
              </a:spcAft>
              <a:buClr>
                <a:schemeClr val="dk1"/>
              </a:buClr>
              <a:buSzPts val="1100"/>
              <a:buFont typeface="Arial"/>
              <a:buNone/>
            </a:pPr>
            <a:r>
              <a:rPr lang="en" sz="800">
                <a:solidFill>
                  <a:srgbClr val="274E13"/>
                </a:solidFill>
                <a:latin typeface="PT Serif"/>
                <a:ea typeface="PT Serif"/>
                <a:cs typeface="PT Serif"/>
                <a:sym typeface="PT Serif"/>
              </a:rPr>
              <a:t>¤ Predictive spread models for SLFs in other literature did not account for areas on the west coast, unlike this project</a:t>
            </a:r>
            <a:endParaRPr sz="800">
              <a:solidFill>
                <a:srgbClr val="274E13"/>
              </a:solidFill>
              <a:latin typeface="PT Serif"/>
              <a:ea typeface="PT Serif"/>
              <a:cs typeface="PT Serif"/>
              <a:sym typeface="PT Serif"/>
            </a:endParaRPr>
          </a:p>
        </p:txBody>
      </p:sp>
      <p:pic>
        <p:nvPicPr>
          <p:cNvPr id="62" name="Google Shape;62;p13" title="QR Code to SLF References Page.png"/>
          <p:cNvPicPr preferRelativeResize="0"/>
          <p:nvPr/>
        </p:nvPicPr>
        <p:blipFill rotWithShape="1">
          <a:blip r:embed="rId4">
            <a:alphaModFix/>
          </a:blip>
          <a:srcRect b="0" l="0" r="0" t="189"/>
          <a:stretch/>
        </p:blipFill>
        <p:spPr>
          <a:xfrm>
            <a:off x="8344588" y="4425175"/>
            <a:ext cx="565175" cy="565925"/>
          </a:xfrm>
          <a:prstGeom prst="rect">
            <a:avLst/>
          </a:prstGeom>
          <a:noFill/>
          <a:ln>
            <a:noFill/>
          </a:ln>
        </p:spPr>
      </p:pic>
      <p:sp>
        <p:nvSpPr>
          <p:cNvPr id="63" name="Google Shape;63;p13"/>
          <p:cNvSpPr txBox="1"/>
          <p:nvPr/>
        </p:nvSpPr>
        <p:spPr>
          <a:xfrm>
            <a:off x="117975" y="5051900"/>
            <a:ext cx="8934600" cy="91500"/>
          </a:xfrm>
          <a:prstGeom prst="rect">
            <a:avLst/>
          </a:prstGeom>
          <a:noFill/>
          <a:ln>
            <a:noFill/>
          </a:ln>
        </p:spPr>
        <p:txBody>
          <a:bodyPr anchorCtr="0" anchor="ctr" bIns="9125" lIns="9125" spcFirstLastPara="1" rIns="9125" wrap="square" tIns="9125">
            <a:noAutofit/>
          </a:bodyPr>
          <a:lstStyle/>
          <a:p>
            <a:pPr indent="0" lvl="0" marL="0" rtl="0" algn="l">
              <a:spcBef>
                <a:spcPts val="0"/>
              </a:spcBef>
              <a:spcAft>
                <a:spcPts val="0"/>
              </a:spcAft>
              <a:buNone/>
            </a:pPr>
            <a:r>
              <a:rPr lang="en" sz="300">
                <a:solidFill>
                  <a:srgbClr val="274E13"/>
                </a:solidFill>
                <a:latin typeface="PT Serif"/>
                <a:ea typeface="PT Serif"/>
                <a:cs typeface="PT Serif"/>
                <a:sym typeface="PT Serif"/>
              </a:rPr>
              <a:t>Dara, S. K., Barringer, L. &amp; Athurs, S. P. (2015). Lycorma delicatula (Hemiptera: Fulgoridae): A New Invasive Pest in the United States. Journal of Integrated Pest Management, 6(1), 20. https://doi.org/10.1093/jipm/pmv021   Strömbom, D., Sands, A., Graham, J. M., Crocker, A., Cloud, C., Tulevech, G. &amp; Ward, K. (2024, August 14). Modeling human activity-related spread of the spotted lanternfly (Lycorma delicatula) in the US. PLOS One, 19(8), e0307754. https://doi.org/10.1371/journal.pone.0307754   </a:t>
            </a:r>
            <a:endParaRPr sz="300">
              <a:solidFill>
                <a:srgbClr val="274E13"/>
              </a:solidFill>
              <a:latin typeface="PT Serif"/>
              <a:ea typeface="PT Serif"/>
              <a:cs typeface="PT Serif"/>
              <a:sym typeface="PT Serif"/>
            </a:endParaRPr>
          </a:p>
        </p:txBody>
      </p:sp>
      <p:sp>
        <p:nvSpPr>
          <p:cNvPr id="64" name="Google Shape;64;p13"/>
          <p:cNvSpPr/>
          <p:nvPr/>
        </p:nvSpPr>
        <p:spPr>
          <a:xfrm>
            <a:off x="3108900" y="2874300"/>
            <a:ext cx="1430700" cy="2177700"/>
          </a:xfrm>
          <a:prstGeom prst="rect">
            <a:avLst/>
          </a:prstGeom>
          <a:solidFill>
            <a:srgbClr val="F5FFF1"/>
          </a:solid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en" sz="800">
                <a:solidFill>
                  <a:srgbClr val="274E13"/>
                </a:solidFill>
                <a:latin typeface="PT Serif"/>
                <a:ea typeface="PT Serif"/>
                <a:cs typeface="PT Serif"/>
                <a:sym typeface="PT Serif"/>
              </a:rPr>
              <a:t>Figure 1:</a:t>
            </a:r>
            <a:r>
              <a:rPr lang="en" sz="800">
                <a:solidFill>
                  <a:srgbClr val="274E13"/>
                </a:solidFill>
                <a:latin typeface="PT Serif"/>
                <a:ea typeface="PT Serif"/>
                <a:cs typeface="PT Serif"/>
                <a:sym typeface="PT Serif"/>
              </a:rPr>
              <a:t> </a:t>
            </a:r>
            <a:r>
              <a:rPr lang="en" sz="800">
                <a:solidFill>
                  <a:srgbClr val="274E13"/>
                </a:solidFill>
                <a:latin typeface="PT Serif"/>
                <a:ea typeface="PT Serif"/>
                <a:cs typeface="PT Serif"/>
                <a:sym typeface="PT Serif"/>
              </a:rPr>
              <a:t>Life cycle of the average </a:t>
            </a:r>
            <a:r>
              <a:rPr i="1" lang="en" sz="800">
                <a:solidFill>
                  <a:srgbClr val="274E13"/>
                </a:solidFill>
                <a:latin typeface="PT Serif"/>
                <a:ea typeface="PT Serif"/>
                <a:cs typeface="PT Serif"/>
                <a:sym typeface="PT Serif"/>
              </a:rPr>
              <a:t>L. delicatula</a:t>
            </a:r>
            <a:r>
              <a:rPr lang="en" sz="800">
                <a:solidFill>
                  <a:srgbClr val="274E13"/>
                </a:solidFill>
                <a:latin typeface="PT Serif"/>
                <a:ea typeface="PT Serif"/>
                <a:cs typeface="PT Serif"/>
                <a:sym typeface="PT Serif"/>
              </a:rPr>
              <a:t> illustrated by Colleen Witkowski from Penn State University, showing the months in the U.S. when each stage is present within quarantine zones. </a:t>
            </a:r>
            <a:endParaRPr sz="800">
              <a:solidFill>
                <a:srgbClr val="274E13"/>
              </a:solidFill>
              <a:latin typeface="PT Serif"/>
              <a:ea typeface="PT Serif"/>
              <a:cs typeface="PT Serif"/>
              <a:sym typeface="PT Serif"/>
            </a:endParaRPr>
          </a:p>
        </p:txBody>
      </p:sp>
      <p:sp>
        <p:nvSpPr>
          <p:cNvPr id="65" name="Google Shape;65;p13"/>
          <p:cNvSpPr/>
          <p:nvPr/>
        </p:nvSpPr>
        <p:spPr>
          <a:xfrm>
            <a:off x="6126300" y="3189900"/>
            <a:ext cx="2926200" cy="908100"/>
          </a:xfrm>
          <a:prstGeom prst="rect">
            <a:avLst/>
          </a:prstGeom>
          <a:solidFill>
            <a:srgbClr val="F5FFF1"/>
          </a:solid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en" sz="800">
                <a:solidFill>
                  <a:srgbClr val="274E13"/>
                </a:solidFill>
                <a:latin typeface="PT Serif"/>
                <a:ea typeface="PT Serif"/>
                <a:cs typeface="PT Serif"/>
                <a:sym typeface="PT Serif"/>
              </a:rPr>
              <a:t>Figure 3:</a:t>
            </a:r>
            <a:r>
              <a:rPr lang="en" sz="800">
                <a:solidFill>
                  <a:srgbClr val="274E13"/>
                </a:solidFill>
                <a:latin typeface="PT Serif"/>
                <a:ea typeface="PT Serif"/>
                <a:cs typeface="PT Serif"/>
                <a:sym typeface="PT Serif"/>
              </a:rPr>
              <a:t> </a:t>
            </a:r>
            <a:r>
              <a:rPr lang="en" sz="800">
                <a:solidFill>
                  <a:srgbClr val="274E13"/>
                </a:solidFill>
                <a:latin typeface="PT Serif"/>
                <a:ea typeface="PT Serif"/>
                <a:cs typeface="PT Serif"/>
                <a:sym typeface="PT Serif"/>
              </a:rPr>
              <a:t>Predictive model forecast by </a:t>
            </a:r>
            <a:r>
              <a:rPr lang="en" sz="800">
                <a:solidFill>
                  <a:srgbClr val="274E13"/>
                </a:solidFill>
                <a:latin typeface="PT Serif"/>
                <a:ea typeface="PT Serif"/>
                <a:cs typeface="PT Serif"/>
                <a:sym typeface="PT Serif"/>
              </a:rPr>
              <a:t>Strömbom et al. (2024).</a:t>
            </a:r>
            <a:endParaRPr sz="800">
              <a:solidFill>
                <a:srgbClr val="274E13"/>
              </a:solidFill>
              <a:latin typeface="PT Serif"/>
              <a:ea typeface="PT Serif"/>
              <a:cs typeface="PT Serif"/>
              <a:sym typeface="PT Serif"/>
            </a:endParaRPr>
          </a:p>
        </p:txBody>
      </p:sp>
      <p:pic>
        <p:nvPicPr>
          <p:cNvPr id="66" name="Google Shape;66;p13"/>
          <p:cNvPicPr preferRelativeResize="0"/>
          <p:nvPr/>
        </p:nvPicPr>
        <p:blipFill>
          <a:blip r:embed="rId5">
            <a:alphaModFix/>
          </a:blip>
          <a:stretch>
            <a:fillRect/>
          </a:stretch>
        </p:blipFill>
        <p:spPr>
          <a:xfrm>
            <a:off x="3108900" y="2874300"/>
            <a:ext cx="1430702" cy="1124015"/>
          </a:xfrm>
          <a:prstGeom prst="rect">
            <a:avLst/>
          </a:prstGeom>
          <a:noFill/>
          <a:ln>
            <a:noFill/>
          </a:ln>
        </p:spPr>
      </p:pic>
      <p:sp>
        <p:nvSpPr>
          <p:cNvPr id="67" name="Google Shape;67;p13"/>
          <p:cNvSpPr/>
          <p:nvPr/>
        </p:nvSpPr>
        <p:spPr>
          <a:xfrm>
            <a:off x="4613900" y="2874300"/>
            <a:ext cx="1430700" cy="2177700"/>
          </a:xfrm>
          <a:prstGeom prst="rect">
            <a:avLst/>
          </a:prstGeom>
          <a:solidFill>
            <a:srgbClr val="F5FFF1"/>
          </a:solid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rPr b="1" lang="en" sz="800">
                <a:solidFill>
                  <a:srgbClr val="274E13"/>
                </a:solidFill>
                <a:latin typeface="PT Serif"/>
                <a:ea typeface="PT Serif"/>
                <a:cs typeface="PT Serif"/>
                <a:sym typeface="PT Serif"/>
              </a:rPr>
              <a:t>Figure 2:</a:t>
            </a:r>
            <a:r>
              <a:rPr lang="en" sz="800">
                <a:solidFill>
                  <a:srgbClr val="274E13"/>
                </a:solidFill>
                <a:latin typeface="PT Serif"/>
                <a:ea typeface="PT Serif"/>
                <a:cs typeface="PT Serif"/>
                <a:sym typeface="PT Serif"/>
              </a:rPr>
              <a:t> </a:t>
            </a:r>
            <a:r>
              <a:rPr lang="en" sz="800">
                <a:solidFill>
                  <a:srgbClr val="274E13"/>
                </a:solidFill>
                <a:latin typeface="PT Serif"/>
                <a:ea typeface="PT Serif"/>
                <a:cs typeface="PT Serif"/>
                <a:sym typeface="PT Serif"/>
              </a:rPr>
              <a:t>An example of the size and appearance of spotted lanternfly egg masses and how many can fit in a single part of a land transportation vehicle (“Rubber Tire Containing”, 2023).</a:t>
            </a:r>
            <a:endParaRPr sz="800">
              <a:solidFill>
                <a:srgbClr val="274E13"/>
              </a:solidFill>
              <a:latin typeface="PT Serif"/>
              <a:ea typeface="PT Serif"/>
              <a:cs typeface="PT Serif"/>
              <a:sym typeface="PT Serif"/>
            </a:endParaRPr>
          </a:p>
        </p:txBody>
      </p:sp>
      <p:sp>
        <p:nvSpPr>
          <p:cNvPr id="68" name="Google Shape;68;p13"/>
          <p:cNvSpPr/>
          <p:nvPr/>
        </p:nvSpPr>
        <p:spPr>
          <a:xfrm>
            <a:off x="3108900" y="2874300"/>
            <a:ext cx="1430700" cy="2177700"/>
          </a:xfrm>
          <a:prstGeom prst="rect">
            <a:avLst/>
          </a:prstGeom>
          <a:no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t/>
            </a:r>
            <a:endParaRPr sz="800">
              <a:solidFill>
                <a:srgbClr val="274E13"/>
              </a:solidFill>
              <a:latin typeface="PT Serif"/>
              <a:ea typeface="PT Serif"/>
              <a:cs typeface="PT Serif"/>
              <a:sym typeface="PT Serif"/>
            </a:endParaRPr>
          </a:p>
        </p:txBody>
      </p:sp>
      <p:pic>
        <p:nvPicPr>
          <p:cNvPr id="69" name="Google Shape;69;p13"/>
          <p:cNvPicPr preferRelativeResize="0"/>
          <p:nvPr/>
        </p:nvPicPr>
        <p:blipFill>
          <a:blip r:embed="rId6">
            <a:alphaModFix/>
          </a:blip>
          <a:stretch>
            <a:fillRect/>
          </a:stretch>
        </p:blipFill>
        <p:spPr>
          <a:xfrm>
            <a:off x="6126300" y="3235725"/>
            <a:ext cx="2926198" cy="698224"/>
          </a:xfrm>
          <a:prstGeom prst="rect">
            <a:avLst/>
          </a:prstGeom>
          <a:noFill/>
          <a:ln>
            <a:noFill/>
          </a:ln>
        </p:spPr>
      </p:pic>
      <p:sp>
        <p:nvSpPr>
          <p:cNvPr id="70" name="Google Shape;70;p13"/>
          <p:cNvSpPr/>
          <p:nvPr/>
        </p:nvSpPr>
        <p:spPr>
          <a:xfrm>
            <a:off x="6126300" y="3189900"/>
            <a:ext cx="2926200" cy="908100"/>
          </a:xfrm>
          <a:prstGeom prst="rect">
            <a:avLst/>
          </a:prstGeom>
          <a:no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t/>
            </a:r>
            <a:endParaRPr sz="800">
              <a:solidFill>
                <a:srgbClr val="274E13"/>
              </a:solidFill>
              <a:latin typeface="PT Serif"/>
              <a:ea typeface="PT Serif"/>
              <a:cs typeface="PT Serif"/>
              <a:sym typeface="PT Serif"/>
            </a:endParaRPr>
          </a:p>
        </p:txBody>
      </p:sp>
      <p:pic>
        <p:nvPicPr>
          <p:cNvPr id="71" name="Google Shape;71;p13"/>
          <p:cNvPicPr preferRelativeResize="0"/>
          <p:nvPr/>
        </p:nvPicPr>
        <p:blipFill rotWithShape="1">
          <a:blip r:embed="rId7">
            <a:alphaModFix/>
          </a:blip>
          <a:srcRect b="5276" l="18368" r="23152" t="0"/>
          <a:stretch/>
        </p:blipFill>
        <p:spPr>
          <a:xfrm>
            <a:off x="4613900" y="2874300"/>
            <a:ext cx="1421199" cy="1124025"/>
          </a:xfrm>
          <a:prstGeom prst="rect">
            <a:avLst/>
          </a:prstGeom>
          <a:noFill/>
          <a:ln>
            <a:noFill/>
          </a:ln>
        </p:spPr>
      </p:pic>
      <p:sp>
        <p:nvSpPr>
          <p:cNvPr id="72" name="Google Shape;72;p13"/>
          <p:cNvSpPr/>
          <p:nvPr/>
        </p:nvSpPr>
        <p:spPr>
          <a:xfrm>
            <a:off x="4617600" y="2874300"/>
            <a:ext cx="1430700" cy="2177700"/>
          </a:xfrm>
          <a:prstGeom prst="rect">
            <a:avLst/>
          </a:prstGeom>
          <a:noFill/>
          <a:ln cap="flat" cmpd="sng" w="38100">
            <a:solidFill>
              <a:srgbClr val="274E13"/>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Clr>
                <a:schemeClr val="dk1"/>
              </a:buClr>
              <a:buSzPts val="1100"/>
              <a:buFont typeface="Arial"/>
              <a:buNone/>
            </a:pPr>
            <a:r>
              <a:t/>
            </a:r>
            <a:endParaRPr sz="800">
              <a:solidFill>
                <a:srgbClr val="274E13"/>
              </a:solidFill>
              <a:latin typeface="PT Serif"/>
              <a:ea typeface="PT Serif"/>
              <a:cs typeface="PT Serif"/>
              <a:sym typeface="PT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6" name="Shape 76"/>
        <p:cNvGrpSpPr/>
        <p:nvPr/>
      </p:nvGrpSpPr>
      <p:grpSpPr>
        <a:xfrm>
          <a:off x="0" y="0"/>
          <a:ext cx="0" cy="0"/>
          <a:chOff x="0" y="0"/>
          <a:chExt cx="0" cy="0"/>
        </a:xfrm>
      </p:grpSpPr>
      <p:pic>
        <p:nvPicPr>
          <p:cNvPr id="77" name="Google Shape;77;p14"/>
          <p:cNvPicPr preferRelativeResize="0"/>
          <p:nvPr/>
        </p:nvPicPr>
        <p:blipFill>
          <a:blip r:embed="rId3">
            <a:alphaModFix/>
          </a:blip>
          <a:stretch>
            <a:fillRect/>
          </a:stretch>
        </p:blipFill>
        <p:spPr>
          <a:xfrm>
            <a:off x="0" y="0"/>
            <a:ext cx="6546836" cy="5143498"/>
          </a:xfrm>
          <a:prstGeom prst="rect">
            <a:avLst/>
          </a:prstGeom>
          <a:noFill/>
          <a:ln>
            <a:noFill/>
          </a:ln>
        </p:spPr>
      </p:pic>
      <p:sp>
        <p:nvSpPr>
          <p:cNvPr id="78" name="Google Shape;78;p14"/>
          <p:cNvSpPr txBox="1"/>
          <p:nvPr/>
        </p:nvSpPr>
        <p:spPr>
          <a:xfrm>
            <a:off x="6546825" y="101250"/>
            <a:ext cx="2214900" cy="49410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SzPts val="1100"/>
              <a:buFont typeface="Arial"/>
              <a:buNone/>
            </a:pPr>
            <a:r>
              <a:rPr b="1" lang="en" sz="2100">
                <a:solidFill>
                  <a:srgbClr val="274E13"/>
                </a:solidFill>
                <a:latin typeface="PT Serif"/>
                <a:ea typeface="PT Serif"/>
                <a:cs typeface="PT Serif"/>
                <a:sym typeface="PT Serif"/>
              </a:rPr>
              <a:t>Figure 1:</a:t>
            </a:r>
            <a:r>
              <a:rPr lang="en" sz="2100">
                <a:solidFill>
                  <a:srgbClr val="274E13"/>
                </a:solidFill>
                <a:latin typeface="PT Serif"/>
                <a:ea typeface="PT Serif"/>
                <a:cs typeface="PT Serif"/>
                <a:sym typeface="PT Serif"/>
              </a:rPr>
              <a:t> </a:t>
            </a:r>
            <a:r>
              <a:rPr lang="en" sz="2100">
                <a:solidFill>
                  <a:srgbClr val="274E13"/>
                </a:solidFill>
                <a:latin typeface="PT Serif"/>
                <a:ea typeface="PT Serif"/>
                <a:cs typeface="PT Serif"/>
                <a:sym typeface="PT Serif"/>
              </a:rPr>
              <a:t>Life cycle of the average </a:t>
            </a:r>
            <a:r>
              <a:rPr i="1" lang="en" sz="2100">
                <a:solidFill>
                  <a:srgbClr val="274E13"/>
                </a:solidFill>
                <a:latin typeface="PT Serif"/>
                <a:ea typeface="PT Serif"/>
                <a:cs typeface="PT Serif"/>
                <a:sym typeface="PT Serif"/>
              </a:rPr>
              <a:t>L. delicatula</a:t>
            </a:r>
            <a:r>
              <a:rPr lang="en" sz="2100">
                <a:solidFill>
                  <a:srgbClr val="274E13"/>
                </a:solidFill>
                <a:latin typeface="PT Serif"/>
                <a:ea typeface="PT Serif"/>
                <a:cs typeface="PT Serif"/>
                <a:sym typeface="PT Serif"/>
              </a:rPr>
              <a:t> illustrated by Colleen Witkowski from Penn State University, showing the months in the U.S. when each stage is present within quarantine zones.</a:t>
            </a:r>
            <a:endParaRPr sz="2100">
              <a:solidFill>
                <a:schemeClr val="dk2"/>
              </a:solidFill>
              <a:latin typeface="PT Serif"/>
              <a:ea typeface="PT Serif"/>
              <a:cs typeface="PT Serif"/>
              <a:sym typeface="PT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2" name="Shape 82"/>
        <p:cNvGrpSpPr/>
        <p:nvPr/>
      </p:nvGrpSpPr>
      <p:grpSpPr>
        <a:xfrm>
          <a:off x="0" y="0"/>
          <a:ext cx="0" cy="0"/>
          <a:chOff x="0" y="0"/>
          <a:chExt cx="0" cy="0"/>
        </a:xfrm>
      </p:grpSpPr>
      <p:pic>
        <p:nvPicPr>
          <p:cNvPr id="83" name="Google Shape;83;p15"/>
          <p:cNvPicPr preferRelativeResize="0"/>
          <p:nvPr/>
        </p:nvPicPr>
        <p:blipFill rotWithShape="1">
          <a:blip r:embed="rId3">
            <a:alphaModFix/>
          </a:blip>
          <a:srcRect b="0" l="0" r="0" t="0"/>
          <a:stretch/>
        </p:blipFill>
        <p:spPr>
          <a:xfrm>
            <a:off x="0" y="0"/>
            <a:ext cx="9144000" cy="4464830"/>
          </a:xfrm>
          <a:prstGeom prst="rect">
            <a:avLst/>
          </a:prstGeom>
          <a:noFill/>
          <a:ln>
            <a:noFill/>
          </a:ln>
        </p:spPr>
      </p:pic>
      <p:sp>
        <p:nvSpPr>
          <p:cNvPr id="84" name="Google Shape;84;p15"/>
          <p:cNvSpPr txBox="1"/>
          <p:nvPr/>
        </p:nvSpPr>
        <p:spPr>
          <a:xfrm>
            <a:off x="0" y="4464825"/>
            <a:ext cx="9090000" cy="678600"/>
          </a:xfrm>
          <a:prstGeom prst="rect">
            <a:avLst/>
          </a:prstGeom>
          <a:noFill/>
          <a:ln>
            <a:noFill/>
          </a:ln>
        </p:spPr>
        <p:txBody>
          <a:bodyPr anchorCtr="0" anchor="t" bIns="91425" lIns="91425" spcFirstLastPara="1" rIns="91425" wrap="square" tIns="91425">
            <a:normAutofit fontScale="62500"/>
          </a:bodyPr>
          <a:lstStyle/>
          <a:p>
            <a:pPr indent="0" lvl="0" marL="0" rtl="0" algn="l">
              <a:spcBef>
                <a:spcPts val="0"/>
              </a:spcBef>
              <a:spcAft>
                <a:spcPts val="0"/>
              </a:spcAft>
              <a:buNone/>
            </a:pPr>
            <a:r>
              <a:rPr b="1" lang="en" sz="2500">
                <a:solidFill>
                  <a:srgbClr val="274E13"/>
                </a:solidFill>
                <a:latin typeface="PT Serif"/>
                <a:ea typeface="PT Serif"/>
                <a:cs typeface="PT Serif"/>
                <a:sym typeface="PT Serif"/>
              </a:rPr>
              <a:t>Figure 2:</a:t>
            </a:r>
            <a:r>
              <a:rPr lang="en" sz="2500">
                <a:solidFill>
                  <a:srgbClr val="274E13"/>
                </a:solidFill>
                <a:latin typeface="PT Serif"/>
                <a:ea typeface="PT Serif"/>
                <a:cs typeface="PT Serif"/>
                <a:sym typeface="PT Serif"/>
              </a:rPr>
              <a:t> </a:t>
            </a:r>
            <a:r>
              <a:rPr lang="en" sz="2500">
                <a:solidFill>
                  <a:srgbClr val="274E13"/>
                </a:solidFill>
                <a:latin typeface="PT Serif"/>
                <a:ea typeface="PT Serif"/>
                <a:cs typeface="PT Serif"/>
                <a:sym typeface="PT Serif"/>
              </a:rPr>
              <a:t>An example of the size and appearance of spotted lanternfly egg masses and how many can fit in a single part of a land transportation vehicle (“Rubber Tire Containing”, 2023).</a:t>
            </a:r>
            <a:endParaRPr sz="2500">
              <a:solidFill>
                <a:srgbClr val="274E13"/>
              </a:solidFill>
              <a:latin typeface="PT Serif"/>
              <a:ea typeface="PT Serif"/>
              <a:cs typeface="PT Serif"/>
              <a:sym typeface="PT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3">
            <a:alphaModFix/>
          </a:blip>
          <a:stretch>
            <a:fillRect/>
          </a:stretch>
        </p:blipFill>
        <p:spPr>
          <a:xfrm>
            <a:off x="0" y="0"/>
            <a:ext cx="9144003" cy="2544962"/>
          </a:xfrm>
          <a:prstGeom prst="rect">
            <a:avLst/>
          </a:prstGeom>
          <a:noFill/>
          <a:ln>
            <a:noFill/>
          </a:ln>
        </p:spPr>
      </p:pic>
      <p:sp>
        <p:nvSpPr>
          <p:cNvPr id="90" name="Google Shape;90;p16"/>
          <p:cNvSpPr txBox="1"/>
          <p:nvPr/>
        </p:nvSpPr>
        <p:spPr>
          <a:xfrm>
            <a:off x="0" y="2544950"/>
            <a:ext cx="9144000" cy="25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274E13"/>
                </a:solidFill>
                <a:latin typeface="PT Serif"/>
                <a:ea typeface="PT Serif"/>
                <a:cs typeface="PT Serif"/>
                <a:sym typeface="PT Serif"/>
              </a:rPr>
              <a:t>Figure 3:</a:t>
            </a:r>
            <a:r>
              <a:rPr lang="en" sz="2100">
                <a:solidFill>
                  <a:srgbClr val="274E13"/>
                </a:solidFill>
                <a:latin typeface="PT Serif"/>
                <a:ea typeface="PT Serif"/>
                <a:cs typeface="PT Serif"/>
                <a:sym typeface="PT Serif"/>
              </a:rPr>
              <a:t> </a:t>
            </a:r>
            <a:r>
              <a:rPr lang="en" sz="2100">
                <a:solidFill>
                  <a:srgbClr val="274E13"/>
                </a:solidFill>
                <a:latin typeface="PT Serif"/>
                <a:ea typeface="PT Serif"/>
                <a:cs typeface="PT Serif"/>
                <a:sym typeface="PT Serif"/>
              </a:rPr>
              <a:t>Population density maps for the total spotted lanternfly population as predicted by Strömbom, Sands, Graham, Crocker, Cloud, Tulevech, and Ward in a paper published on PLOS One in 2024 with the 2025 map being a predictive forecast for this year’s swarm within and slightly outside of the predefined quarantine zones (Pennsylvania, New York, New Jersey, Delaware, Maryland, Ohio, Virginia, North Carolina, and a few counties in surrounding states). Darker green areas are more dense.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0" y="0"/>
            <a:ext cx="6074675" cy="5143500"/>
          </a:xfrm>
          <a:prstGeom prst="rect">
            <a:avLst/>
          </a:prstGeom>
          <a:noFill/>
          <a:ln>
            <a:noFill/>
          </a:ln>
        </p:spPr>
      </p:pic>
      <p:sp>
        <p:nvSpPr>
          <p:cNvPr id="96" name="Google Shape;96;p17"/>
          <p:cNvSpPr txBox="1"/>
          <p:nvPr/>
        </p:nvSpPr>
        <p:spPr>
          <a:xfrm>
            <a:off x="6074675" y="0"/>
            <a:ext cx="30693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274E13"/>
                </a:solidFill>
                <a:latin typeface="PT Serif"/>
                <a:ea typeface="PT Serif"/>
                <a:cs typeface="PT Serif"/>
                <a:sym typeface="PT Serif"/>
              </a:rPr>
              <a:t>Figure 4:</a:t>
            </a:r>
            <a:r>
              <a:rPr lang="en" sz="2100">
                <a:solidFill>
                  <a:srgbClr val="274E13"/>
                </a:solidFill>
                <a:latin typeface="PT Serif"/>
                <a:ea typeface="PT Serif"/>
                <a:cs typeface="PT Serif"/>
                <a:sym typeface="PT Serif"/>
              </a:rPr>
              <a:t> </a:t>
            </a:r>
            <a:r>
              <a:rPr lang="en" sz="2100">
                <a:solidFill>
                  <a:srgbClr val="274E13"/>
                </a:solidFill>
                <a:latin typeface="PT Serif"/>
                <a:ea typeface="PT Serif"/>
                <a:cs typeface="PT Serif"/>
                <a:sym typeface="PT Serif"/>
              </a:rPr>
              <a:t>The differences between a covered egg mass (an egg mass protected by a dried wax coating) and an uncovered egg mass (sets of eggs laid in a line). A covered egg mass </a:t>
            </a:r>
            <a:r>
              <a:rPr lang="en" sz="2100">
                <a:solidFill>
                  <a:srgbClr val="274E13"/>
                </a:solidFill>
                <a:latin typeface="PT Serif"/>
                <a:ea typeface="PT Serif"/>
                <a:cs typeface="PT Serif"/>
                <a:sym typeface="PT Serif"/>
              </a:rPr>
              <a:t>appears over eggs that have yet to hatch, and uncovered eggs have hatched. </a:t>
            </a:r>
            <a:r>
              <a:rPr lang="en" sz="2100">
                <a:solidFill>
                  <a:srgbClr val="274E13"/>
                </a:solidFill>
                <a:latin typeface="PT Serif"/>
                <a:ea typeface="PT Serif"/>
                <a:cs typeface="PT Serif"/>
                <a:sym typeface="PT Serif"/>
              </a:rPr>
              <a:t>Courtesy of the Spotted Lanternfly Project (2020).</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0" name="Shape 100"/>
        <p:cNvGrpSpPr/>
        <p:nvPr/>
      </p:nvGrpSpPr>
      <p:grpSpPr>
        <a:xfrm>
          <a:off x="0" y="0"/>
          <a:ext cx="0" cy="0"/>
          <a:chOff x="0" y="0"/>
          <a:chExt cx="0" cy="0"/>
        </a:xfrm>
      </p:grpSpPr>
      <p:pic>
        <p:nvPicPr>
          <p:cNvPr id="101" name="Google Shape;101;p18"/>
          <p:cNvPicPr preferRelativeResize="0"/>
          <p:nvPr/>
        </p:nvPicPr>
        <p:blipFill>
          <a:blip r:embed="rId3">
            <a:alphaModFix/>
          </a:blip>
          <a:stretch>
            <a:fillRect/>
          </a:stretch>
        </p:blipFill>
        <p:spPr>
          <a:xfrm>
            <a:off x="0" y="0"/>
            <a:ext cx="6937273" cy="5143500"/>
          </a:xfrm>
          <a:prstGeom prst="rect">
            <a:avLst/>
          </a:prstGeom>
          <a:noFill/>
          <a:ln>
            <a:noFill/>
          </a:ln>
        </p:spPr>
      </p:pic>
      <p:sp>
        <p:nvSpPr>
          <p:cNvPr id="102" name="Google Shape;102;p18"/>
          <p:cNvSpPr txBox="1"/>
          <p:nvPr/>
        </p:nvSpPr>
        <p:spPr>
          <a:xfrm>
            <a:off x="6937275" y="0"/>
            <a:ext cx="22068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274E13"/>
                </a:solidFill>
                <a:latin typeface="PT Serif"/>
                <a:ea typeface="PT Serif"/>
                <a:cs typeface="PT Serif"/>
                <a:sym typeface="PT Serif"/>
              </a:rPr>
              <a:t>Figure 5:</a:t>
            </a:r>
            <a:r>
              <a:rPr lang="en" sz="2100">
                <a:solidFill>
                  <a:srgbClr val="274E13"/>
                </a:solidFill>
                <a:latin typeface="PT Serif"/>
                <a:ea typeface="PT Serif"/>
                <a:cs typeface="PT Serif"/>
                <a:sym typeface="PT Serif"/>
              </a:rPr>
              <a:t> </a:t>
            </a:r>
            <a:r>
              <a:rPr lang="en" sz="2100">
                <a:solidFill>
                  <a:srgbClr val="274E13"/>
                </a:solidFill>
                <a:latin typeface="PT Serif"/>
                <a:ea typeface="PT Serif"/>
                <a:cs typeface="PT Serif"/>
                <a:sym typeface="PT Serif"/>
              </a:rPr>
              <a:t>Insects that may appear similar to the adult spotted lanternfly and should be spared from attempts to eliminate invasive species. Note the spotted red area of the hind wings in the target species.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